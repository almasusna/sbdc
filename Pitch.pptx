
<file path=[Content_Types].xml><?xml version="1.0" encoding="utf-8"?>
<Types xmlns="http://schemas.openxmlformats.org/package/2006/content-types">
  <Default ContentType="application/x-fontdata" Extension="fntdata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d9c4534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d9c4534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02c91b585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02c91b585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e9090756a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e9090756a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02c91b585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02c91b585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702c91b585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702c91b585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702c91b585_5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702c91b585_5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702c91b58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702c91b58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02c91b585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02c91b585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702c91b585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702c91b585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702c91b585_2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702c91b585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702c91b585_4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702c91b585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986 people did both a seminar and a webinar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702c91b585_5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702c91b585_5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702c91b585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702c91b585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topics female above average: Franchising (58%), social media (60.5%), procurment fair (60.2%), Woman-owned business (73.6%)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Males above average - Government contacting 36.5%, exporting 36%, financing 36.5%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02c91b585_5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02c91b585_5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02c91b585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02c91b585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e9090756a_1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e9090756a_1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02c91b58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02c91b58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02c91b58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02c91b58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702c91b58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702c91b58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702c91b58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702c91b58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702c91b58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702c91b58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702c91b58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702c91b58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DC20082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5288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UMD DC2020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71475"/>
            <a:ext cx="9144000" cy="548644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2235875" y="701850"/>
            <a:ext cx="67677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Making your vision a reality</a:t>
            </a:r>
            <a:r>
              <a:rPr lang="en" sz="3600">
                <a:latin typeface="Roboto"/>
                <a:ea typeface="Roboto"/>
                <a:cs typeface="Roboto"/>
                <a:sym typeface="Roboto"/>
              </a:rPr>
              <a:t>”</a:t>
            </a: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 rotWithShape="1">
          <a:blip r:embed="rId3">
            <a:alphaModFix/>
          </a:blip>
          <a:srcRect b="0" l="7783" r="0" t="0"/>
          <a:stretch/>
        </p:blipFill>
        <p:spPr>
          <a:xfrm>
            <a:off x="1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>
            <p:ph type="title"/>
          </p:nvPr>
        </p:nvSpPr>
        <p:spPr>
          <a:xfrm>
            <a:off x="490250" y="488250"/>
            <a:ext cx="7902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Times New Roman"/>
                <a:ea typeface="Times New Roman"/>
                <a:cs typeface="Times New Roman"/>
                <a:sym typeface="Times New Roman"/>
              </a:rPr>
              <a:t>OVERALL </a:t>
            </a:r>
            <a:r>
              <a:rPr lang="en" sz="4800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4800">
                <a:latin typeface="Times New Roman"/>
                <a:ea typeface="Times New Roman"/>
                <a:cs typeface="Times New Roman"/>
                <a:sym typeface="Times New Roman"/>
              </a:rPr>
              <a:t>In the aspect of Training Topics, what demographics should be be targeted?</a:t>
            </a:r>
            <a:endParaRPr i="1"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2103550" y="2098950"/>
            <a:ext cx="1791900" cy="787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5059575" y="2123400"/>
            <a:ext cx="1791900" cy="738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2238163" y="2221913"/>
            <a:ext cx="16065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Attendee (ID)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5152625" y="2233425"/>
            <a:ext cx="17919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Event  (Name)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760150" y="1381875"/>
            <a:ext cx="1343400" cy="54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80400" y="2147050"/>
            <a:ext cx="1343400" cy="54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21300" y="2912225"/>
            <a:ext cx="1343400" cy="54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1350150" y="3618500"/>
            <a:ext cx="1343400" cy="54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2103550" y="973400"/>
            <a:ext cx="1343400" cy="54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054825" y="1010700"/>
            <a:ext cx="1343400" cy="54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7398225" y="1605250"/>
            <a:ext cx="1343400" cy="54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7262600" y="2571750"/>
            <a:ext cx="1343400" cy="54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6239650" y="3300450"/>
            <a:ext cx="1343400" cy="54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7511625" y="4029150"/>
            <a:ext cx="1343400" cy="54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6"/>
          <p:cNvCxnSpPr>
            <a:stCxn id="89" idx="3"/>
            <a:endCxn id="88" idx="2"/>
          </p:cNvCxnSpPr>
          <p:nvPr/>
        </p:nvCxnSpPr>
        <p:spPr>
          <a:xfrm>
            <a:off x="3844663" y="2492813"/>
            <a:ext cx="121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6"/>
          <p:cNvCxnSpPr>
            <a:stCxn id="95" idx="4"/>
            <a:endCxn id="87" idx="0"/>
          </p:cNvCxnSpPr>
          <p:nvPr/>
        </p:nvCxnSpPr>
        <p:spPr>
          <a:xfrm>
            <a:off x="2775250" y="1515200"/>
            <a:ext cx="224400" cy="58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6"/>
          <p:cNvCxnSpPr>
            <a:stCxn id="91" idx="5"/>
          </p:cNvCxnSpPr>
          <p:nvPr/>
        </p:nvCxnSpPr>
        <p:spPr>
          <a:xfrm>
            <a:off x="1906814" y="1844330"/>
            <a:ext cx="465900" cy="38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6"/>
          <p:cNvCxnSpPr>
            <a:stCxn id="92" idx="6"/>
            <a:endCxn id="87" idx="2"/>
          </p:cNvCxnSpPr>
          <p:nvPr/>
        </p:nvCxnSpPr>
        <p:spPr>
          <a:xfrm>
            <a:off x="1423800" y="2417950"/>
            <a:ext cx="679800" cy="7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6"/>
          <p:cNvCxnSpPr>
            <a:stCxn id="93" idx="6"/>
          </p:cNvCxnSpPr>
          <p:nvPr/>
        </p:nvCxnSpPr>
        <p:spPr>
          <a:xfrm flipH="1" rot="10800000">
            <a:off x="1664700" y="2776925"/>
            <a:ext cx="717000" cy="40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6"/>
          <p:cNvCxnSpPr>
            <a:stCxn id="94" idx="7"/>
            <a:endCxn id="87" idx="4"/>
          </p:cNvCxnSpPr>
          <p:nvPr/>
        </p:nvCxnSpPr>
        <p:spPr>
          <a:xfrm flipH="1" rot="10800000">
            <a:off x="2496814" y="2886645"/>
            <a:ext cx="502800" cy="8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6"/>
          <p:cNvCxnSpPr>
            <a:stCxn id="88" idx="0"/>
            <a:endCxn id="96" idx="4"/>
          </p:cNvCxnSpPr>
          <p:nvPr/>
        </p:nvCxnSpPr>
        <p:spPr>
          <a:xfrm flipH="1" rot="10800000">
            <a:off x="5955525" y="1552500"/>
            <a:ext cx="771000" cy="5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6"/>
          <p:cNvCxnSpPr>
            <a:endCxn id="97" idx="3"/>
          </p:cNvCxnSpPr>
          <p:nvPr/>
        </p:nvCxnSpPr>
        <p:spPr>
          <a:xfrm flipH="1" rot="10800000">
            <a:off x="6719561" y="2067705"/>
            <a:ext cx="875400" cy="24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6"/>
          <p:cNvCxnSpPr>
            <a:endCxn id="98" idx="2"/>
          </p:cNvCxnSpPr>
          <p:nvPr/>
        </p:nvCxnSpPr>
        <p:spPr>
          <a:xfrm>
            <a:off x="6816800" y="2617350"/>
            <a:ext cx="44580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6"/>
          <p:cNvCxnSpPr>
            <a:endCxn id="99" idx="1"/>
          </p:cNvCxnSpPr>
          <p:nvPr/>
        </p:nvCxnSpPr>
        <p:spPr>
          <a:xfrm>
            <a:off x="6356586" y="2838895"/>
            <a:ext cx="79800" cy="54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6"/>
          <p:cNvCxnSpPr>
            <a:stCxn id="99" idx="5"/>
            <a:endCxn id="100" idx="1"/>
          </p:cNvCxnSpPr>
          <p:nvPr/>
        </p:nvCxnSpPr>
        <p:spPr>
          <a:xfrm>
            <a:off x="7386314" y="3762905"/>
            <a:ext cx="321900" cy="3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6"/>
          <p:cNvSpPr txBox="1"/>
          <p:nvPr/>
        </p:nvSpPr>
        <p:spPr>
          <a:xfrm>
            <a:off x="2279425" y="938500"/>
            <a:ext cx="109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Business status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920925" y="1360375"/>
            <a:ext cx="985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County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265825" y="2192525"/>
            <a:ext cx="982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Gender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555300" y="3000325"/>
            <a:ext cx="8754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Race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6276900" y="1041650"/>
            <a:ext cx="9384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Format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7560575" y="1670225"/>
            <a:ext cx="1097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Start Date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7643025" y="2669850"/>
            <a:ext cx="11508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Topic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504025" y="3287700"/>
            <a:ext cx="9384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Center Name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7666800" y="4104750"/>
            <a:ext cx="10977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Region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1496375" y="3697525"/>
            <a:ext cx="10977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Hispanic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2496825" y="253200"/>
            <a:ext cx="41118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Better look...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Advertisement</a:t>
            </a: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 model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When targeting the right audience we must: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Determine the topics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Observe the #1 ranked topic for Webinar/Seminar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AutoNum type="arabicPeriod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Asses the demographics that will achieve the highest outcome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7"/>
          <p:cNvSpPr txBox="1"/>
          <p:nvPr>
            <p:ph type="title"/>
          </p:nvPr>
        </p:nvSpPr>
        <p:spPr>
          <a:xfrm>
            <a:off x="4337500" y="514150"/>
            <a:ext cx="3753900" cy="9621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TOPIC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0" name="Google Shape;130;p17"/>
          <p:cNvCxnSpPr>
            <a:stCxn id="129" idx="2"/>
            <a:endCxn id="131" idx="0"/>
          </p:cNvCxnSpPr>
          <p:nvPr/>
        </p:nvCxnSpPr>
        <p:spPr>
          <a:xfrm>
            <a:off x="6214450" y="1476250"/>
            <a:ext cx="0" cy="55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7"/>
          <p:cNvSpPr txBox="1"/>
          <p:nvPr>
            <p:ph type="title"/>
          </p:nvPr>
        </p:nvSpPr>
        <p:spPr>
          <a:xfrm>
            <a:off x="4337500" y="2030351"/>
            <a:ext cx="3753900" cy="962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FORMAT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2" name="Google Shape;132;p17"/>
          <p:cNvCxnSpPr>
            <a:stCxn id="131" idx="2"/>
            <a:endCxn id="133" idx="0"/>
          </p:cNvCxnSpPr>
          <p:nvPr/>
        </p:nvCxnSpPr>
        <p:spPr>
          <a:xfrm>
            <a:off x="6214450" y="2992451"/>
            <a:ext cx="0" cy="67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7"/>
          <p:cNvSpPr txBox="1"/>
          <p:nvPr>
            <p:ph type="title"/>
          </p:nvPr>
        </p:nvSpPr>
        <p:spPr>
          <a:xfrm>
            <a:off x="4337501" y="3667157"/>
            <a:ext cx="3753900" cy="9621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DEMOGRAPHICS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 rotWithShape="1">
          <a:blip r:embed="rId3">
            <a:alphaModFix/>
          </a:blip>
          <a:srcRect b="9477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>
            <p:ph type="title"/>
          </p:nvPr>
        </p:nvSpPr>
        <p:spPr>
          <a:xfrm>
            <a:off x="490250" y="488250"/>
            <a:ext cx="8100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PROBLEM: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Which topics are the most successful amongst the formats?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ctrTitle"/>
          </p:nvPr>
        </p:nvSpPr>
        <p:spPr>
          <a:xfrm>
            <a:off x="881825" y="1303425"/>
            <a:ext cx="2988300" cy="26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What format should be offered based upon the topic of the training?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Seminar or Webinar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5" name="Google Shape;1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8473" y="50688"/>
            <a:ext cx="3675075" cy="3618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8475" y="3669083"/>
            <a:ext cx="3675075" cy="828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00"/>
            <a:ext cx="4711500" cy="477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7725" y="8312"/>
            <a:ext cx="4055150" cy="388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5975" y="3897313"/>
            <a:ext cx="3738158" cy="123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23924" r="24690" t="20153"/>
          <a:stretch/>
        </p:blipFill>
        <p:spPr>
          <a:xfrm>
            <a:off x="451200" y="529200"/>
            <a:ext cx="3940476" cy="408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/>
        </p:nvSpPr>
        <p:spPr>
          <a:xfrm>
            <a:off x="1684350" y="130350"/>
            <a:ext cx="57753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ONLINE VIDEO/WEBINAR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5153650" y="529200"/>
            <a:ext cx="2747100" cy="4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Accounting/Budget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Business Financing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Business Plan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Business Start-up/Preplanning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Buy/Sell Business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Cash Flow Management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Customer Relations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Government</a:t>
            </a: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 Contracting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Human Resources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Internet/Web Training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Legal Issues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Managing a Business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Marketing/Sales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Other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Retail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Risk Management 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Social Media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Subcontracting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Technology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Veterans Outreach Conf.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Woman-owned Businesses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eCommerce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2"/>
          <p:cNvPicPr preferRelativeResize="0"/>
          <p:nvPr/>
        </p:nvPicPr>
        <p:blipFill rotWithShape="1">
          <a:blip r:embed="rId3">
            <a:alphaModFix/>
          </a:blip>
          <a:srcRect b="10522" l="0" r="0" t="0"/>
          <a:stretch/>
        </p:blipFill>
        <p:spPr>
          <a:xfrm>
            <a:off x="190500" y="744025"/>
            <a:ext cx="4787875" cy="393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 txBox="1"/>
          <p:nvPr/>
        </p:nvSpPr>
        <p:spPr>
          <a:xfrm>
            <a:off x="3368700" y="134725"/>
            <a:ext cx="3729900" cy="6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SEMINAR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5444300" y="744025"/>
            <a:ext cx="3194400" cy="4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Accounting/Budget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Business Financing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Business Plan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Business Start-up/Preplanning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Buy/Sell Business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Cash Flow Management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Customer Relations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Disaster Planning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Exporting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Franchising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Government</a:t>
            </a: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 Contracting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Human Resources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Internet/Web Training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Legal Issues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Managing a Business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Marketing/Sales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None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Orientation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Other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Procurement Fair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Retail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Risk Management 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Selling to Government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Small Disadvantaged Businesses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Social Media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Subcontracting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Tax Planning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Technology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Veterans Outreach Conf.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Times New Roman"/>
              <a:buAutoNum type="arabicPeriod"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Woman-owned Businesses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Observations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3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801 attendees went to more than 1 webinar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	2665 individuals attended a seminar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	30% repetition rate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738 attendees went to more than 1 seminar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	11771 individuals attended 1 seminar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	6.3% repetition rate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3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If you want more customers = choose Seminar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If you want more </a:t>
            </a: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REPEAT</a:t>
            </a: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 customers = Webinar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3"/>
          <p:cNvSpPr txBox="1"/>
          <p:nvPr>
            <p:ph type="title"/>
          </p:nvPr>
        </p:nvSpPr>
        <p:spPr>
          <a:xfrm>
            <a:off x="490250" y="488250"/>
            <a:ext cx="8100000" cy="40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4"/>
          <p:cNvPicPr preferRelativeResize="0"/>
          <p:nvPr/>
        </p:nvPicPr>
        <p:blipFill rotWithShape="1">
          <a:blip r:embed="rId3">
            <a:alphaModFix/>
          </a:blip>
          <a:srcRect b="9477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 txBox="1"/>
          <p:nvPr>
            <p:ph type="title"/>
          </p:nvPr>
        </p:nvSpPr>
        <p:spPr>
          <a:xfrm>
            <a:off x="490250" y="488250"/>
            <a:ext cx="8100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Are there topics that preferentially divide amongst gender?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Demographics - Gender</a:t>
            </a:r>
            <a:endParaRPr/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25" y="426125"/>
            <a:ext cx="45720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5"/>
          <p:cNvSpPr txBox="1"/>
          <p:nvPr/>
        </p:nvSpPr>
        <p:spPr>
          <a:xfrm>
            <a:off x="546225" y="3284975"/>
            <a:ext cx="3907800" cy="8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latin typeface="Times New Roman"/>
                <a:ea typeface="Times New Roman"/>
                <a:cs typeface="Times New Roman"/>
                <a:sym typeface="Times New Roman"/>
              </a:rPr>
              <a:t>We are interested in topics that have deviation from these overall averages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5223875" y="426125"/>
            <a:ext cx="3546300" cy="3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Female above average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Tax planning - 61.5%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Orientation - 64%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Human Resources - 66%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Male above average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Selling to gov - 41.6%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Disadvantaged business - 37.6%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Veterans outreach - 49.8%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Interesting side note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Small/disadvantaged business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3.2% - Choose not to respond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6"/>
          <p:cNvPicPr preferRelativeResize="0"/>
          <p:nvPr/>
        </p:nvPicPr>
        <p:blipFill rotWithShape="1">
          <a:blip r:embed="rId3">
            <a:alphaModFix/>
          </a:blip>
          <a:srcRect b="9477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6"/>
          <p:cNvSpPr txBox="1"/>
          <p:nvPr>
            <p:ph type="title"/>
          </p:nvPr>
        </p:nvSpPr>
        <p:spPr>
          <a:xfrm>
            <a:off x="490250" y="488250"/>
            <a:ext cx="8100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Do businesses in different stages prefer different formats?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63" y="0"/>
            <a:ext cx="4180236" cy="25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 txBox="1"/>
          <p:nvPr/>
        </p:nvSpPr>
        <p:spPr>
          <a:xfrm>
            <a:off x="4801925" y="80350"/>
            <a:ext cx="3455700" cy="27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Start-up (in bus. &lt; 1 year)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	Seminar - 84.95%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	Webinar - 15.05%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Choose not to respond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	Webinar - 19.08%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	Seminar - 80.92%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Pre-venture/Nascent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	Webinar - 16.56%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Seminar - 83.44%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 Business (&gt; 1 year)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	Seminar - 83.13%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	Webinar - 16.87%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12" y="2511625"/>
            <a:ext cx="4171558" cy="251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 txBox="1"/>
          <p:nvPr/>
        </p:nvSpPr>
        <p:spPr>
          <a:xfrm>
            <a:off x="4572000" y="2873050"/>
            <a:ext cx="4171500" cy="22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Businesses in different stages have no indicative preference for one format over the other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Participants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are dominantly pre-venture or established in business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Start-ups may lack the capital to attend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8"/>
          <p:cNvPicPr preferRelativeResize="0"/>
          <p:nvPr/>
        </p:nvPicPr>
        <p:blipFill rotWithShape="1">
          <a:blip r:embed="rId3">
            <a:alphaModFix/>
          </a:blip>
          <a:srcRect b="9477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 txBox="1"/>
          <p:nvPr>
            <p:ph type="title"/>
          </p:nvPr>
        </p:nvSpPr>
        <p:spPr>
          <a:xfrm>
            <a:off x="490250" y="488250"/>
            <a:ext cx="8100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PROBLEM: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Based on region of the training event what attendee counties should be targeted?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350" y="283625"/>
            <a:ext cx="5090275" cy="449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350" y="294918"/>
            <a:ext cx="5090275" cy="448705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 txBox="1"/>
          <p:nvPr/>
        </p:nvSpPr>
        <p:spPr>
          <a:xfrm>
            <a:off x="5497200" y="294875"/>
            <a:ext cx="3464400" cy="44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Washington 				925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not to respond 		348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Frederick  				147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Allegany   				60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Garrett    				45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Montgomery 			38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Prince Georges 			26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Baltimore  				17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Franklin   				11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 Arundel 			8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Baltimore City 			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Berkeley  				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Howard     				5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Talbot     				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Carroll    				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Monongalia 				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Queen Annes 			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525" y="308488"/>
            <a:ext cx="5077575" cy="452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 txBox="1"/>
          <p:nvPr/>
        </p:nvSpPr>
        <p:spPr>
          <a:xfrm>
            <a:off x="5497200" y="308625"/>
            <a:ext cx="34644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1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Montgomery 			256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Prince Georges 			235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Howard     				221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not to respond 		190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Baltimore  				183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Baltimore City 			131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 Arundel 			97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Charles    				53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Frederick  				37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Carroll    				30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Harford    				30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Saint Marys 				17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District of Columbia 		15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Calvert    				12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Cecil      				9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Fairfax    				9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Washington 				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Loudoun    				4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Queen Annes 			4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75" y="291638"/>
            <a:ext cx="5356775" cy="456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1"/>
          <p:cNvSpPr txBox="1"/>
          <p:nvPr/>
        </p:nvSpPr>
        <p:spPr>
          <a:xfrm>
            <a:off x="5700475" y="292475"/>
            <a:ext cx="3287700" cy="4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Wicomico   				206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Somerset   				89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not to respond 		88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Dorchester 				70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Worcester  				43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Talbot     				40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Queen Annes 			23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Kent       				17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Prince Georges 			16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 Arundel 			12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Caroline   				10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Montgomery 			9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Howard     				4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Sussex   				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Charles    				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Baltimore City 			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Frederick  				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Baltimore  				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2"/>
          <p:cNvPicPr preferRelativeResize="0"/>
          <p:nvPr/>
        </p:nvPicPr>
        <p:blipFill rotWithShape="1">
          <a:blip r:embed="rId3">
            <a:alphaModFix/>
          </a:blip>
          <a:srcRect b="0" l="3226" r="9801" t="0"/>
          <a:stretch/>
        </p:blipFill>
        <p:spPr>
          <a:xfrm>
            <a:off x="201300" y="152400"/>
            <a:ext cx="5419651" cy="481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2"/>
          <p:cNvSpPr txBox="1"/>
          <p:nvPr/>
        </p:nvSpPr>
        <p:spPr>
          <a:xfrm>
            <a:off x="5718150" y="168750"/>
            <a:ext cx="3252300" cy="47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not to respond 		830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Charles    				766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Calvert    				295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Saint Marys 				295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Prince Georges 			136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Carroll    				37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 Arundel 			28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Montgomery 			24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Baltimore  				16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Baltimore City 			14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Howard     				12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Frederick  				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District of Columbia 		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Harford    				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Alexandria City 			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Washington 				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Queen Anne's 			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Allegany   				1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Queen Annes 			1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Dorchester 				1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King George 			1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3"/>
          <p:cNvPicPr preferRelativeResize="0"/>
          <p:nvPr/>
        </p:nvPicPr>
        <p:blipFill rotWithShape="1">
          <a:blip r:embed="rId3">
            <a:alphaModFix/>
          </a:blip>
          <a:srcRect b="0" l="2536" r="4887" t="0"/>
          <a:stretch/>
        </p:blipFill>
        <p:spPr>
          <a:xfrm>
            <a:off x="212325" y="175850"/>
            <a:ext cx="5726775" cy="47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3"/>
          <p:cNvSpPr txBox="1"/>
          <p:nvPr/>
        </p:nvSpPr>
        <p:spPr>
          <a:xfrm>
            <a:off x="6062825" y="159900"/>
            <a:ext cx="2898900" cy="47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not to respond 		684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Baltimore  				511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Baltimore City 			240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Prince Georges 			239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Montgomery 			170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Carroll    				170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 Arundel 			105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Harford    				94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Howard     				87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Frederick  				44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Charles    				22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Cecil      				18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York       				4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Calvert    				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Talbot     				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Kent       				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Saint Marys 				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Wicomico   				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Virginia Beach City 		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Fairfax    				1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District of Columbia 		1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4"/>
          <p:cNvPicPr preferRelativeResize="0"/>
          <p:nvPr/>
        </p:nvPicPr>
        <p:blipFill rotWithShape="1">
          <a:blip r:embed="rId3">
            <a:alphaModFix/>
          </a:blip>
          <a:srcRect b="0" l="3618" r="4528" t="0"/>
          <a:stretch/>
        </p:blipFill>
        <p:spPr>
          <a:xfrm>
            <a:off x="169300" y="152400"/>
            <a:ext cx="6230524" cy="48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4"/>
          <p:cNvSpPr txBox="1"/>
          <p:nvPr/>
        </p:nvSpPr>
        <p:spPr>
          <a:xfrm>
            <a:off x="6513550" y="106900"/>
            <a:ext cx="2474400" cy="48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Frederick  			3908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not to respond 	3068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Montgomery 		2660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Prince Georges 		2555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Anne Arundel 		850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Baltimore  			847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Baltimore City 		769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Howard     			634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Washington 			476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Charles    			310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Carroll    			177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District of Columbia 	108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Harford    			82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Saint Marys 			72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Allegany   			53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Calvert    			50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Fairfax    			40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Wicomico   			29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Franklin   			25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Garrett    			23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….</a:t>
            </a:r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